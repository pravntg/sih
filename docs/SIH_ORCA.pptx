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 u="heavy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2010" y="1857248"/>
            <a:ext cx="4782820" cy="3790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68617" y="1269568"/>
            <a:ext cx="5066030" cy="431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95159" y="126343"/>
            <a:ext cx="1527289" cy="7005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82697" y="234441"/>
            <a:ext cx="662660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774" y="1143380"/>
            <a:ext cx="11582450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 u="heavy">
                <a:solidFill>
                  <a:srgbClr val="44536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60390" y="6489773"/>
            <a:ext cx="2119629" cy="182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9202" y="6480869"/>
            <a:ext cx="161290" cy="226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6888" y="177241"/>
            <a:ext cx="709930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100" dirty="0">
                <a:solidFill>
                  <a:srgbClr val="44536A"/>
                </a:solidFill>
                <a:latin typeface="Garamond" panose="02020404030301010803" pitchFamily="18" charset="0"/>
              </a:rPr>
              <a:t>SMART</a:t>
            </a:r>
            <a:r>
              <a:rPr sz="3500" spc="-35" dirty="0">
                <a:solidFill>
                  <a:srgbClr val="44536A"/>
                </a:solidFill>
                <a:latin typeface="Garamond" panose="02020404030301010803" pitchFamily="18" charset="0"/>
              </a:rPr>
              <a:t> </a:t>
            </a:r>
            <a:r>
              <a:rPr sz="3500" spc="90" dirty="0">
                <a:solidFill>
                  <a:srgbClr val="44536A"/>
                </a:solidFill>
                <a:latin typeface="Garamond" panose="02020404030301010803" pitchFamily="18" charset="0"/>
              </a:rPr>
              <a:t>INDIA</a:t>
            </a:r>
            <a:r>
              <a:rPr sz="3500" spc="-15" dirty="0">
                <a:solidFill>
                  <a:srgbClr val="44536A"/>
                </a:solidFill>
                <a:latin typeface="Garamond" panose="02020404030301010803" pitchFamily="18" charset="0"/>
              </a:rPr>
              <a:t> </a:t>
            </a:r>
            <a:r>
              <a:rPr sz="3500" spc="25" dirty="0">
                <a:solidFill>
                  <a:srgbClr val="44536A"/>
                </a:solidFill>
                <a:latin typeface="Garamond" panose="02020404030301010803" pitchFamily="18" charset="0"/>
              </a:rPr>
              <a:t>HACKATHON</a:t>
            </a:r>
            <a:r>
              <a:rPr sz="3500" spc="-35" dirty="0">
                <a:solidFill>
                  <a:srgbClr val="44536A"/>
                </a:solidFill>
                <a:latin typeface="Garamond" panose="02020404030301010803" pitchFamily="18" charset="0"/>
              </a:rPr>
              <a:t> </a:t>
            </a:r>
            <a:r>
              <a:rPr sz="3500" spc="-110" dirty="0">
                <a:solidFill>
                  <a:srgbClr val="44536A"/>
                </a:solidFill>
                <a:latin typeface="Garamond" panose="02020404030301010803" pitchFamily="18" charset="0"/>
              </a:rPr>
              <a:t>202</a:t>
            </a:r>
            <a:r>
              <a:rPr lang="en-US" sz="3500" spc="-110" dirty="0">
                <a:solidFill>
                  <a:srgbClr val="44536A"/>
                </a:solidFill>
                <a:latin typeface="Garamond" panose="02020404030301010803" pitchFamily="18" charset="0"/>
              </a:rPr>
              <a:t>6</a:t>
            </a:r>
            <a:endParaRPr sz="3500"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86750" y="2508123"/>
            <a:ext cx="2999740" cy="3305175"/>
            <a:chOff x="8286750" y="2508123"/>
            <a:chExt cx="2999740" cy="3305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2993" y="2508123"/>
              <a:ext cx="2832967" cy="33046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286750" y="2660522"/>
              <a:ext cx="382905" cy="256540"/>
            </a:xfrm>
            <a:custGeom>
              <a:avLst/>
              <a:gdLst/>
              <a:ahLst/>
              <a:cxnLst/>
              <a:rect l="l" t="t" r="r" b="b"/>
              <a:pathLst>
                <a:path w="382904" h="256539">
                  <a:moveTo>
                    <a:pt x="382524" y="0"/>
                  </a:moveTo>
                  <a:lnTo>
                    <a:pt x="0" y="0"/>
                  </a:lnTo>
                  <a:lnTo>
                    <a:pt x="0" y="256032"/>
                  </a:lnTo>
                  <a:lnTo>
                    <a:pt x="382524" y="256032"/>
                  </a:lnTo>
                  <a:lnTo>
                    <a:pt x="3825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198490" y="940384"/>
            <a:ext cx="18789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TITLE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PAGE</a:t>
            </a:r>
            <a:endParaRPr sz="2400" b="1" u="sng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718" y="2075179"/>
            <a:ext cx="6158230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dirty="0">
                <a:latin typeface="Arial"/>
                <a:cs typeface="Arial"/>
              </a:rPr>
              <a:t>Problem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Statement</a:t>
            </a:r>
            <a:r>
              <a:rPr sz="1800" b="1" dirty="0">
                <a:latin typeface="Arial"/>
                <a:cs typeface="Arial"/>
              </a:rPr>
              <a:t> ID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–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SIH</a:t>
            </a:r>
            <a:r>
              <a:rPr lang="en-US" spc="-5" dirty="0">
                <a:latin typeface="Arial MT"/>
                <a:cs typeface="Arial MT"/>
              </a:rPr>
              <a:t>26176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1850" dirty="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  <a:tab pos="299720" algn="l"/>
                <a:tab pos="1398905" algn="l"/>
                <a:tab pos="2688590" algn="l"/>
                <a:tab pos="3342640" algn="l"/>
                <a:tab pos="3604895" algn="l"/>
                <a:tab pos="4868545" algn="l"/>
                <a:tab pos="5445760" algn="l"/>
              </a:tabLst>
            </a:pPr>
            <a:r>
              <a:rPr sz="1800" b="1" dirty="0">
                <a:latin typeface="Arial"/>
                <a:cs typeface="Arial"/>
              </a:rPr>
              <a:t>Prob</a:t>
            </a:r>
            <a:r>
              <a:rPr sz="1800" b="1" spc="5" dirty="0">
                <a:latin typeface="Arial"/>
                <a:cs typeface="Arial"/>
              </a:rPr>
              <a:t>l</a:t>
            </a:r>
            <a:r>
              <a:rPr sz="1800" b="1" spc="-5" dirty="0">
                <a:latin typeface="Arial"/>
                <a:cs typeface="Arial"/>
              </a:rPr>
              <a:t>em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Stat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spc="-5" dirty="0">
                <a:latin typeface="Arial"/>
                <a:cs typeface="Arial"/>
              </a:rPr>
              <a:t>m</a:t>
            </a:r>
            <a:r>
              <a:rPr sz="1800" b="1" spc="-15" dirty="0">
                <a:latin typeface="Arial"/>
                <a:cs typeface="Arial"/>
              </a:rPr>
              <a:t>e</a:t>
            </a:r>
            <a:r>
              <a:rPr sz="1800" b="1" dirty="0">
                <a:latin typeface="Arial"/>
                <a:cs typeface="Arial"/>
              </a:rPr>
              <a:t>nt	T</a:t>
            </a:r>
            <a:r>
              <a:rPr sz="1800" b="1" spc="5" dirty="0">
                <a:latin typeface="Arial"/>
                <a:cs typeface="Arial"/>
              </a:rPr>
              <a:t>i</a:t>
            </a:r>
            <a:r>
              <a:rPr sz="1800" b="1" dirty="0">
                <a:latin typeface="Arial"/>
                <a:cs typeface="Arial"/>
              </a:rPr>
              <a:t>tle	-	</a:t>
            </a:r>
            <a:r>
              <a:rPr lang="en-IN" dirty="0"/>
              <a:t>ORCA Marine </a:t>
            </a:r>
            <a:r>
              <a:rPr lang="en-IN" dirty="0" err="1"/>
              <a:t>EcOsystem</a:t>
            </a:r>
            <a:r>
              <a:rPr lang="en-IN" dirty="0"/>
              <a:t> Reasoning with Collaborative Agents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718" y="3721049"/>
            <a:ext cx="3374390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Arial"/>
                <a:cs typeface="Arial"/>
              </a:rPr>
              <a:t>Theme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–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lang="en-IN" sz="1800" spc="-5" dirty="0">
                <a:latin typeface="Arial MT"/>
                <a:cs typeface="Arial"/>
              </a:rPr>
              <a:t>Disaster Management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850" dirty="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Arial"/>
                <a:cs typeface="Arial"/>
              </a:rPr>
              <a:t>PS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Category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–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Software</a:t>
            </a:r>
            <a:endParaRPr lang="en-IN" sz="1800" spc="-10" dirty="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endParaRPr lang="en-IN" spc="-10" dirty="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lang="en-IN" b="1" spc="-5" dirty="0">
                <a:latin typeface="Arial"/>
                <a:cs typeface="Arial"/>
              </a:rPr>
              <a:t>Team</a:t>
            </a:r>
            <a:r>
              <a:rPr lang="en-IN" b="1" spc="-15" dirty="0">
                <a:latin typeface="Arial"/>
                <a:cs typeface="Arial"/>
              </a:rPr>
              <a:t> </a:t>
            </a:r>
            <a:r>
              <a:rPr lang="en-IN" b="1" spc="-5" dirty="0">
                <a:latin typeface="Arial"/>
                <a:cs typeface="Arial"/>
              </a:rPr>
              <a:t>ID </a:t>
            </a:r>
            <a:r>
              <a:rPr lang="en-IN" spc="-5" dirty="0">
                <a:latin typeface="Arial"/>
                <a:cs typeface="Arial"/>
              </a:rPr>
              <a:t>-</a:t>
            </a:r>
            <a:r>
              <a:rPr lang="en-IN" b="1" spc="-5" dirty="0">
                <a:latin typeface="Arial"/>
                <a:cs typeface="Arial"/>
              </a:rPr>
              <a:t> 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Arial"/>
                <a:cs typeface="Arial"/>
              </a:rPr>
              <a:t>Team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Name </a:t>
            </a:r>
            <a:r>
              <a:rPr lang="en-IN" sz="1800" b="1" dirty="0">
                <a:latin typeface="Arial"/>
                <a:cs typeface="Arial"/>
              </a:rPr>
              <a:t>–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lang="en-IN" sz="1800" spc="-5" dirty="0">
                <a:latin typeface="Arial MT"/>
                <a:cs typeface="Arial MT"/>
              </a:rPr>
              <a:t>VCT 2.0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872455"/>
            <a:ext cx="4934077" cy="52977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069" y="176225"/>
            <a:ext cx="23888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/>
              <a:t>IDEA</a:t>
            </a:r>
            <a:r>
              <a:rPr u="sng" spc="-85" dirty="0"/>
              <a:t> </a:t>
            </a:r>
            <a:r>
              <a:rPr u="sng" dirty="0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F3473B3-B8FA-746F-5675-897EBCC8790E}"/>
              </a:ext>
            </a:extLst>
          </p:cNvPr>
          <p:cNvGrpSpPr/>
          <p:nvPr/>
        </p:nvGrpSpPr>
        <p:grpSpPr>
          <a:xfrm>
            <a:off x="360207" y="144325"/>
            <a:ext cx="1087594" cy="535305"/>
            <a:chOff x="360207" y="144325"/>
            <a:chExt cx="1087594" cy="5353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304BE19-B4ED-BE2C-A670-B1102962CC65}"/>
                </a:ext>
              </a:extLst>
            </p:cNvPr>
            <p:cNvGrpSpPr/>
            <p:nvPr/>
          </p:nvGrpSpPr>
          <p:grpSpPr>
            <a:xfrm>
              <a:off x="360207" y="144325"/>
              <a:ext cx="1087594" cy="535305"/>
              <a:chOff x="360206" y="144325"/>
              <a:chExt cx="2017677" cy="535305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2039035" y="0"/>
                    </a:moveTo>
                    <a:lnTo>
                      <a:pt x="89154" y="0"/>
                    </a:lnTo>
                    <a:lnTo>
                      <a:pt x="54451" y="7000"/>
                    </a:lnTo>
                    <a:lnTo>
                      <a:pt x="26112" y="26098"/>
                    </a:lnTo>
                    <a:lnTo>
                      <a:pt x="7006" y="54435"/>
                    </a:lnTo>
                    <a:lnTo>
                      <a:pt x="0" y="89153"/>
                    </a:lnTo>
                    <a:lnTo>
                      <a:pt x="0" y="445769"/>
                    </a:lnTo>
                    <a:lnTo>
                      <a:pt x="7006" y="480488"/>
                    </a:lnTo>
                    <a:lnTo>
                      <a:pt x="26112" y="508825"/>
                    </a:lnTo>
                    <a:lnTo>
                      <a:pt x="54451" y="527923"/>
                    </a:lnTo>
                    <a:lnTo>
                      <a:pt x="89154" y="534923"/>
                    </a:lnTo>
                    <a:lnTo>
                      <a:pt x="2039035" y="534923"/>
                    </a:lnTo>
                    <a:lnTo>
                      <a:pt x="2073754" y="527923"/>
                    </a:lnTo>
                    <a:lnTo>
                      <a:pt x="2102091" y="508825"/>
                    </a:lnTo>
                    <a:lnTo>
                      <a:pt x="2121188" y="480488"/>
                    </a:lnTo>
                    <a:lnTo>
                      <a:pt x="2128189" y="445769"/>
                    </a:lnTo>
                    <a:lnTo>
                      <a:pt x="2128189" y="89153"/>
                    </a:lnTo>
                    <a:lnTo>
                      <a:pt x="2121188" y="54435"/>
                    </a:lnTo>
                    <a:lnTo>
                      <a:pt x="2102091" y="26098"/>
                    </a:lnTo>
                    <a:lnTo>
                      <a:pt x="2073754" y="7000"/>
                    </a:lnTo>
                    <a:lnTo>
                      <a:pt x="2039035" y="0"/>
                    </a:lnTo>
                    <a:close/>
                  </a:path>
                </a:pathLst>
              </a:custGeom>
              <a:solidFill>
                <a:srgbClr val="D7E1F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0" y="89153"/>
                    </a:moveTo>
                    <a:lnTo>
                      <a:pt x="7006" y="54435"/>
                    </a:lnTo>
                    <a:lnTo>
                      <a:pt x="26112" y="26098"/>
                    </a:lnTo>
                    <a:lnTo>
                      <a:pt x="54451" y="7000"/>
                    </a:lnTo>
                    <a:lnTo>
                      <a:pt x="89154" y="0"/>
                    </a:lnTo>
                    <a:lnTo>
                      <a:pt x="2039035" y="0"/>
                    </a:lnTo>
                    <a:lnTo>
                      <a:pt x="2073754" y="7000"/>
                    </a:lnTo>
                    <a:lnTo>
                      <a:pt x="2102091" y="26098"/>
                    </a:lnTo>
                    <a:lnTo>
                      <a:pt x="2121188" y="54435"/>
                    </a:lnTo>
                    <a:lnTo>
                      <a:pt x="2128189" y="89153"/>
                    </a:lnTo>
                    <a:lnTo>
                      <a:pt x="2128189" y="445769"/>
                    </a:lnTo>
                    <a:lnTo>
                      <a:pt x="2121188" y="480488"/>
                    </a:lnTo>
                    <a:lnTo>
                      <a:pt x="2102091" y="508825"/>
                    </a:lnTo>
                    <a:lnTo>
                      <a:pt x="2073754" y="527923"/>
                    </a:lnTo>
                    <a:lnTo>
                      <a:pt x="2039035" y="534923"/>
                    </a:lnTo>
                    <a:lnTo>
                      <a:pt x="89154" y="534923"/>
                    </a:lnTo>
                    <a:lnTo>
                      <a:pt x="54451" y="527923"/>
                    </a:lnTo>
                    <a:lnTo>
                      <a:pt x="26112" y="508825"/>
                    </a:lnTo>
                    <a:lnTo>
                      <a:pt x="7006" y="480488"/>
                    </a:lnTo>
                    <a:lnTo>
                      <a:pt x="0" y="445769"/>
                    </a:lnTo>
                    <a:lnTo>
                      <a:pt x="0" y="89153"/>
                    </a:lnTo>
                    <a:close/>
                  </a:path>
                </a:pathLst>
              </a:custGeom>
              <a:ln w="12700">
                <a:solidFill>
                  <a:srgbClr val="1C2F5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1E4E64D-FD10-E6B0-2ABE-A6816F5191B1}"/>
                </a:ext>
              </a:extLst>
            </p:cNvPr>
            <p:cNvSpPr txBox="1"/>
            <p:nvPr/>
          </p:nvSpPr>
          <p:spPr>
            <a:xfrm>
              <a:off x="360207" y="227311"/>
              <a:ext cx="1087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 Rounded MT Bold" panose="020F0704030504030204" pitchFamily="34" charset="0"/>
                </a:rPr>
                <a:t>VCT 2.0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26" name="object 8">
            <a:extLst>
              <a:ext uri="{FF2B5EF4-FFF2-40B4-BE49-F238E27FC236}">
                <a16:creationId xmlns:a16="http://schemas.microsoft.com/office/drawing/2014/main" id="{16298D86-18E4-5ECC-5774-82B0EE3A8970}"/>
              </a:ext>
            </a:extLst>
          </p:cNvPr>
          <p:cNvGrpSpPr/>
          <p:nvPr/>
        </p:nvGrpSpPr>
        <p:grpSpPr>
          <a:xfrm>
            <a:off x="0" y="6511806"/>
            <a:ext cx="12192000" cy="395988"/>
            <a:chOff x="0" y="6328145"/>
            <a:chExt cx="12192000" cy="526415"/>
          </a:xfrm>
        </p:grpSpPr>
        <p:pic>
          <p:nvPicPr>
            <p:cNvPr id="27" name="object 9">
              <a:extLst>
                <a:ext uri="{FF2B5EF4-FFF2-40B4-BE49-F238E27FC236}">
                  <a16:creationId xmlns:a16="http://schemas.microsoft.com/office/drawing/2014/main" id="{580526B3-0CE1-C3C6-C99F-1931EB1BEE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48983"/>
              <a:ext cx="12189714" cy="505206"/>
            </a:xfrm>
            <a:prstGeom prst="rect">
              <a:avLst/>
            </a:prstGeom>
          </p:spPr>
        </p:pic>
        <p:sp>
          <p:nvSpPr>
            <p:cNvPr id="28" name="object 10">
              <a:extLst>
                <a:ext uri="{FF2B5EF4-FFF2-40B4-BE49-F238E27FC236}">
                  <a16:creationId xmlns:a16="http://schemas.microsoft.com/office/drawing/2014/main" id="{F97E6C9E-55DB-7C76-537B-32ECFA173238}"/>
                </a:ext>
              </a:extLst>
            </p:cNvPr>
            <p:cNvSpPr/>
            <p:nvPr/>
          </p:nvSpPr>
          <p:spPr>
            <a:xfrm>
              <a:off x="0" y="6328145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9" name="object 11">
            <a:extLst>
              <a:ext uri="{FF2B5EF4-FFF2-40B4-BE49-F238E27FC236}">
                <a16:creationId xmlns:a16="http://schemas.microsoft.com/office/drawing/2014/main" id="{278268C0-A531-8183-2DED-258DB6258E7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81600" y="6580672"/>
            <a:ext cx="211962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30" name="object 12">
            <a:extLst>
              <a:ext uri="{FF2B5EF4-FFF2-40B4-BE49-F238E27FC236}">
                <a16:creationId xmlns:a16="http://schemas.microsoft.com/office/drawing/2014/main" id="{CF7294CD-E3A5-D8E3-F264-5B90DB6DA43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36949" y="6580672"/>
            <a:ext cx="161290" cy="2260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1E39379-33DD-C314-738A-3B358F60BC1E}"/>
              </a:ext>
            </a:extLst>
          </p:cNvPr>
          <p:cNvCxnSpPr>
            <a:cxnSpLocks/>
          </p:cNvCxnSpPr>
          <p:nvPr/>
        </p:nvCxnSpPr>
        <p:spPr>
          <a:xfrm>
            <a:off x="5683194" y="2667000"/>
            <a:ext cx="0" cy="3429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78CE28-6B6D-E626-DC77-1BA95BE4C09C}"/>
              </a:ext>
            </a:extLst>
          </p:cNvPr>
          <p:cNvSpPr txBox="1"/>
          <p:nvPr/>
        </p:nvSpPr>
        <p:spPr>
          <a:xfrm>
            <a:off x="587007" y="2133600"/>
            <a:ext cx="4899391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Key Features:</a:t>
            </a:r>
            <a:endParaRPr lang="en-IN" sz="1600" u="sng" dirty="0"/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Automated Data Ingestion:</a:t>
            </a:r>
            <a:br>
              <a:rPr lang="en-IN" sz="1200" dirty="0"/>
            </a:br>
            <a:r>
              <a:rPr lang="en-IN" sz="1200" dirty="0"/>
              <a:t>Continuously collects and processes satellite data (Sentinel-3, MODIS), ocean forecasts (INCOIS OSF), and bathymetry datasets (GEBCO), ensuring real-time, structured, and reliable data availability.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PFZ Analytics Engine:</a:t>
            </a:r>
            <a:br>
              <a:rPr lang="en-IN" sz="1200" dirty="0"/>
            </a:br>
            <a:r>
              <a:rPr lang="en-IN" sz="1200" dirty="0"/>
              <a:t>Identifies Potential Fishing Zones using thermal gradients (SST) and chlorophyll concentration, combined with bathymetric filtering to highlight high-yield and safe fishing regions.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Agentic AI Conversational Copilot:</a:t>
            </a:r>
            <a:br>
              <a:rPr lang="en-IN" sz="1200" dirty="0"/>
            </a:br>
            <a:r>
              <a:rPr lang="en-IN" sz="1200" dirty="0"/>
              <a:t>Enables users to ask queries in natural language (e.g., safety, routes, fishing zones) and receive intelligent, context-aware, and explainable responses.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Ocean State &amp; Risk Assessment Module:</a:t>
            </a:r>
            <a:br>
              <a:rPr lang="en-IN" sz="1200" dirty="0"/>
            </a:br>
            <a:r>
              <a:rPr lang="en-IN" sz="1200" dirty="0"/>
              <a:t>Evaluates wave height, wind speed, and ocean conditions against vessel safety thresholds to provide dynamic safety advisories (SAFE / CAUTION / DANGER).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Geospatial Navigation &amp; Route Optimization:</a:t>
            </a:r>
            <a:br>
              <a:rPr lang="en-IN" sz="1200" dirty="0"/>
            </a:br>
            <a:r>
              <a:rPr lang="en-IN" sz="1200" dirty="0"/>
              <a:t>Calculates optimal routes using geodesic algorithms (Great-Circle / Rhumb-Line), considering environmental conditions and operational constraints.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0EDEA-922F-FF40-F4B4-BFB7853FB279}"/>
              </a:ext>
            </a:extLst>
          </p:cNvPr>
          <p:cNvSpPr txBox="1"/>
          <p:nvPr/>
        </p:nvSpPr>
        <p:spPr>
          <a:xfrm>
            <a:off x="587008" y="820202"/>
            <a:ext cx="105696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Idea </a:t>
            </a:r>
            <a:endParaRPr lang="en-IN" sz="1600" u="sng" dirty="0"/>
          </a:p>
          <a:p>
            <a:r>
              <a:rPr lang="en-IN" sz="1400" dirty="0"/>
              <a:t>The </a:t>
            </a:r>
            <a:r>
              <a:rPr lang="en-IN" sz="1400" b="1" dirty="0"/>
              <a:t>ORCA Marine Intelligence Platform (AMIP)</a:t>
            </a:r>
            <a:r>
              <a:rPr lang="en-IN" sz="1400" dirty="0"/>
              <a:t> is a unified conversational system that integrates satellite, ocean, and geospatial data to provide real-time, explainable insights for fishing zones, safety, and navigation. Using Agentic AI and multi-source data fusion, it enables users to access and </a:t>
            </a:r>
            <a:r>
              <a:rPr lang="en-IN" sz="1400" dirty="0" err="1"/>
              <a:t>analyze</a:t>
            </a:r>
            <a:r>
              <a:rPr lang="en-IN" sz="1400" dirty="0"/>
              <a:t> marine intelligence easily, supporting better decision-making. By combining Earth Observation data (SST, chlorophyll) with ocean forecasts, it enhances operational efficiency, improves maritime safety, and promotes sustainable marine resource management.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04F26-6151-D0EA-97FE-89BE35093AFA}"/>
              </a:ext>
            </a:extLst>
          </p:cNvPr>
          <p:cNvSpPr txBox="1"/>
          <p:nvPr/>
        </p:nvSpPr>
        <p:spPr>
          <a:xfrm>
            <a:off x="5937504" y="2231227"/>
            <a:ext cx="5340094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Innovation &amp; Uniqueness:</a:t>
            </a:r>
            <a:endParaRPr lang="en-IN" sz="1600" u="sng" dirty="0"/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Agentic AI Architecture:</a:t>
            </a:r>
            <a:br>
              <a:rPr lang="en-IN" sz="1200" dirty="0"/>
            </a:br>
            <a:r>
              <a:rPr lang="en-IN" sz="1200" dirty="0"/>
              <a:t>Implements a multi-agent system where specialized AI components autonomously plan, </a:t>
            </a:r>
            <a:r>
              <a:rPr lang="en-IN" sz="1200" dirty="0" err="1"/>
              <a:t>analyze</a:t>
            </a:r>
            <a:r>
              <a:rPr lang="en-IN" sz="1200" dirty="0"/>
              <a:t>, and collaborate to solve complex marine intelligence tasks.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Multi-Source Data Fusion:</a:t>
            </a:r>
            <a:br>
              <a:rPr lang="en-IN" sz="1200" dirty="0"/>
            </a:br>
            <a:r>
              <a:rPr lang="en-IN" sz="1200" dirty="0"/>
              <a:t>First-of-its-kind integration of satellite Earth Observation, ocean forecasts, bathymetry, and geospatial intelligence into a unified decision-support platform.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Conversational Marine Intelligence:</a:t>
            </a:r>
            <a:br>
              <a:rPr lang="en-IN" sz="1200" dirty="0"/>
            </a:br>
            <a:r>
              <a:rPr lang="en-IN" sz="1200" dirty="0"/>
              <a:t>Transforms complex marine data into simple, natural language insights, making advanced analytics accessible to non-technical users like fishermen.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Explainable Decision Support:</a:t>
            </a:r>
            <a:br>
              <a:rPr lang="en-IN" sz="1200" dirty="0"/>
            </a:br>
            <a:r>
              <a:rPr lang="en-IN" sz="1200" dirty="0"/>
              <a:t>Every output is backed by verifiable data sources and reasoning through a strict provenance system, ensuring trust and reliability.</a:t>
            </a:r>
          </a:p>
          <a:p>
            <a:pPr marL="171450" indent="-171450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b="1" dirty="0"/>
              <a:t>Real-Time Safety &amp; Operational Intelligence:</a:t>
            </a:r>
            <a:br>
              <a:rPr lang="en-IN" sz="1200" dirty="0"/>
            </a:br>
            <a:r>
              <a:rPr lang="en-IN" sz="1200" dirty="0"/>
              <a:t>Combines environmental monitoring with AI-based risk evaluation to enhance maritime safety and reduce operational risks.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74EBAC-3EA0-0317-16E7-8E85D57DE201}"/>
              </a:ext>
            </a:extLst>
          </p:cNvPr>
          <p:cNvSpPr/>
          <p:nvPr/>
        </p:nvSpPr>
        <p:spPr>
          <a:xfrm>
            <a:off x="10058400" y="144325"/>
            <a:ext cx="2057400" cy="67587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-29788"/>
            <a:ext cx="48958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dirty="0"/>
              <a:t>TECHNICAL</a:t>
            </a:r>
            <a:r>
              <a:rPr u="sng" spc="-70" dirty="0"/>
              <a:t> </a:t>
            </a:r>
            <a:r>
              <a:rPr u="sng" dirty="0"/>
              <a:t>APPROACH</a:t>
            </a:r>
          </a:p>
        </p:txBody>
      </p:sp>
      <p:grpSp>
        <p:nvGrpSpPr>
          <p:cNvPr id="74" name="object 8">
            <a:extLst>
              <a:ext uri="{FF2B5EF4-FFF2-40B4-BE49-F238E27FC236}">
                <a16:creationId xmlns:a16="http://schemas.microsoft.com/office/drawing/2014/main" id="{DEADAE8C-FF9A-3A4E-6C31-387AFDA2D803}"/>
              </a:ext>
            </a:extLst>
          </p:cNvPr>
          <p:cNvGrpSpPr/>
          <p:nvPr/>
        </p:nvGrpSpPr>
        <p:grpSpPr>
          <a:xfrm>
            <a:off x="0" y="6538212"/>
            <a:ext cx="12258364" cy="395988"/>
            <a:chOff x="0" y="6328145"/>
            <a:chExt cx="12192000" cy="526415"/>
          </a:xfrm>
        </p:grpSpPr>
        <p:pic>
          <p:nvPicPr>
            <p:cNvPr id="75" name="object 9">
              <a:extLst>
                <a:ext uri="{FF2B5EF4-FFF2-40B4-BE49-F238E27FC236}">
                  <a16:creationId xmlns:a16="http://schemas.microsoft.com/office/drawing/2014/main" id="{F3FC164B-1D25-D831-5DD3-F46121314A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48983"/>
              <a:ext cx="12189714" cy="505206"/>
            </a:xfrm>
            <a:prstGeom prst="rect">
              <a:avLst/>
            </a:prstGeom>
          </p:spPr>
        </p:pic>
        <p:sp>
          <p:nvSpPr>
            <p:cNvPr id="76" name="object 10">
              <a:extLst>
                <a:ext uri="{FF2B5EF4-FFF2-40B4-BE49-F238E27FC236}">
                  <a16:creationId xmlns:a16="http://schemas.microsoft.com/office/drawing/2014/main" id="{82526B2D-0974-F200-E9E2-E855027DDFE7}"/>
                </a:ext>
              </a:extLst>
            </p:cNvPr>
            <p:cNvSpPr/>
            <p:nvPr/>
          </p:nvSpPr>
          <p:spPr>
            <a:xfrm>
              <a:off x="0" y="6328145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11">
            <a:extLst>
              <a:ext uri="{FF2B5EF4-FFF2-40B4-BE49-F238E27FC236}">
                <a16:creationId xmlns:a16="http://schemas.microsoft.com/office/drawing/2014/main" id="{AE9A032B-0DCD-9CAA-2B6F-24F8CA6603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247964" y="6607078"/>
            <a:ext cx="211962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78" name="object 12">
            <a:extLst>
              <a:ext uri="{FF2B5EF4-FFF2-40B4-BE49-F238E27FC236}">
                <a16:creationId xmlns:a16="http://schemas.microsoft.com/office/drawing/2014/main" id="{8F4A7C72-0558-B481-948A-C504D8DBD82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803313" y="6607078"/>
            <a:ext cx="161290" cy="2260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7A2D8A3-9D3C-1140-C8AD-471B76AF6B59}"/>
              </a:ext>
            </a:extLst>
          </p:cNvPr>
          <p:cNvGrpSpPr/>
          <p:nvPr/>
        </p:nvGrpSpPr>
        <p:grpSpPr>
          <a:xfrm>
            <a:off x="439870" y="166308"/>
            <a:ext cx="1087594" cy="535305"/>
            <a:chOff x="360207" y="144325"/>
            <a:chExt cx="1087594" cy="5353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37A2BF-2178-DB33-F0D7-BD2B18CAC2C4}"/>
                </a:ext>
              </a:extLst>
            </p:cNvPr>
            <p:cNvGrpSpPr/>
            <p:nvPr/>
          </p:nvGrpSpPr>
          <p:grpSpPr>
            <a:xfrm>
              <a:off x="360207" y="144325"/>
              <a:ext cx="1087594" cy="535305"/>
              <a:chOff x="360206" y="144325"/>
              <a:chExt cx="2017677" cy="535305"/>
            </a:xfrm>
          </p:grpSpPr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F59E1F7F-118A-4D2F-B27B-187F8FAD8C18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2039035" y="0"/>
                    </a:moveTo>
                    <a:lnTo>
                      <a:pt x="89154" y="0"/>
                    </a:lnTo>
                    <a:lnTo>
                      <a:pt x="54451" y="7000"/>
                    </a:lnTo>
                    <a:lnTo>
                      <a:pt x="26112" y="26098"/>
                    </a:lnTo>
                    <a:lnTo>
                      <a:pt x="7006" y="54435"/>
                    </a:lnTo>
                    <a:lnTo>
                      <a:pt x="0" y="89153"/>
                    </a:lnTo>
                    <a:lnTo>
                      <a:pt x="0" y="445769"/>
                    </a:lnTo>
                    <a:lnTo>
                      <a:pt x="7006" y="480488"/>
                    </a:lnTo>
                    <a:lnTo>
                      <a:pt x="26112" y="508825"/>
                    </a:lnTo>
                    <a:lnTo>
                      <a:pt x="54451" y="527923"/>
                    </a:lnTo>
                    <a:lnTo>
                      <a:pt x="89154" y="534923"/>
                    </a:lnTo>
                    <a:lnTo>
                      <a:pt x="2039035" y="534923"/>
                    </a:lnTo>
                    <a:lnTo>
                      <a:pt x="2073754" y="527923"/>
                    </a:lnTo>
                    <a:lnTo>
                      <a:pt x="2102091" y="508825"/>
                    </a:lnTo>
                    <a:lnTo>
                      <a:pt x="2121188" y="480488"/>
                    </a:lnTo>
                    <a:lnTo>
                      <a:pt x="2128189" y="445769"/>
                    </a:lnTo>
                    <a:lnTo>
                      <a:pt x="2128189" y="89153"/>
                    </a:lnTo>
                    <a:lnTo>
                      <a:pt x="2121188" y="54435"/>
                    </a:lnTo>
                    <a:lnTo>
                      <a:pt x="2102091" y="26098"/>
                    </a:lnTo>
                    <a:lnTo>
                      <a:pt x="2073754" y="7000"/>
                    </a:lnTo>
                    <a:lnTo>
                      <a:pt x="2039035" y="0"/>
                    </a:lnTo>
                    <a:close/>
                  </a:path>
                </a:pathLst>
              </a:custGeom>
              <a:solidFill>
                <a:srgbClr val="D7E1F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1F25834C-F2C8-E0CD-3FA8-C95AD3BFF9C7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0" y="89153"/>
                    </a:moveTo>
                    <a:lnTo>
                      <a:pt x="7006" y="54435"/>
                    </a:lnTo>
                    <a:lnTo>
                      <a:pt x="26112" y="26098"/>
                    </a:lnTo>
                    <a:lnTo>
                      <a:pt x="54451" y="7000"/>
                    </a:lnTo>
                    <a:lnTo>
                      <a:pt x="89154" y="0"/>
                    </a:lnTo>
                    <a:lnTo>
                      <a:pt x="2039035" y="0"/>
                    </a:lnTo>
                    <a:lnTo>
                      <a:pt x="2073754" y="7000"/>
                    </a:lnTo>
                    <a:lnTo>
                      <a:pt x="2102091" y="26098"/>
                    </a:lnTo>
                    <a:lnTo>
                      <a:pt x="2121188" y="54435"/>
                    </a:lnTo>
                    <a:lnTo>
                      <a:pt x="2128189" y="89153"/>
                    </a:lnTo>
                    <a:lnTo>
                      <a:pt x="2128189" y="445769"/>
                    </a:lnTo>
                    <a:lnTo>
                      <a:pt x="2121188" y="480488"/>
                    </a:lnTo>
                    <a:lnTo>
                      <a:pt x="2102091" y="508825"/>
                    </a:lnTo>
                    <a:lnTo>
                      <a:pt x="2073754" y="527923"/>
                    </a:lnTo>
                    <a:lnTo>
                      <a:pt x="2039035" y="534923"/>
                    </a:lnTo>
                    <a:lnTo>
                      <a:pt x="89154" y="534923"/>
                    </a:lnTo>
                    <a:lnTo>
                      <a:pt x="54451" y="527923"/>
                    </a:lnTo>
                    <a:lnTo>
                      <a:pt x="26112" y="508825"/>
                    </a:lnTo>
                    <a:lnTo>
                      <a:pt x="7006" y="480488"/>
                    </a:lnTo>
                    <a:lnTo>
                      <a:pt x="0" y="445769"/>
                    </a:lnTo>
                    <a:lnTo>
                      <a:pt x="0" y="89153"/>
                    </a:lnTo>
                    <a:close/>
                  </a:path>
                </a:pathLst>
              </a:custGeom>
              <a:ln w="12700">
                <a:solidFill>
                  <a:srgbClr val="1C2F5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C697D18-28FF-3FBB-3AF5-E692B0E867FB}"/>
                </a:ext>
              </a:extLst>
            </p:cNvPr>
            <p:cNvSpPr txBox="1"/>
            <p:nvPr/>
          </p:nvSpPr>
          <p:spPr>
            <a:xfrm>
              <a:off x="360207" y="227311"/>
              <a:ext cx="1087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 Rounded MT Bold" panose="020F0704030504030204" pitchFamily="34" charset="0"/>
                </a:rPr>
                <a:t>VCT 2.0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B805733-485C-E8DE-69A7-D90C4D5F87C3}"/>
              </a:ext>
            </a:extLst>
          </p:cNvPr>
          <p:cNvSpPr/>
          <p:nvPr/>
        </p:nvSpPr>
        <p:spPr>
          <a:xfrm>
            <a:off x="10058400" y="144325"/>
            <a:ext cx="2057400" cy="67587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0B3C56-C690-33B5-F21F-FD7494CA8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85"/>
          <a:stretch>
            <a:fillRect/>
          </a:stretch>
        </p:blipFill>
        <p:spPr>
          <a:xfrm>
            <a:off x="439870" y="774439"/>
            <a:ext cx="10748452" cy="5625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60761" y="109679"/>
            <a:ext cx="53613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sng" dirty="0"/>
              <a:t>FEASIBILITY</a:t>
            </a:r>
            <a:r>
              <a:rPr u="sng" spc="-25" dirty="0"/>
              <a:t> </a:t>
            </a:r>
            <a:r>
              <a:rPr u="sng" spc="5" dirty="0"/>
              <a:t>&amp;</a:t>
            </a:r>
            <a:r>
              <a:rPr u="sng" spc="-40" dirty="0"/>
              <a:t> </a:t>
            </a:r>
            <a:r>
              <a:rPr u="sng" dirty="0"/>
              <a:t>VIABILITY</a:t>
            </a:r>
          </a:p>
        </p:txBody>
      </p:sp>
      <p:grpSp>
        <p:nvGrpSpPr>
          <p:cNvPr id="28" name="object 8">
            <a:extLst>
              <a:ext uri="{FF2B5EF4-FFF2-40B4-BE49-F238E27FC236}">
                <a16:creationId xmlns:a16="http://schemas.microsoft.com/office/drawing/2014/main" id="{DA3838A0-B573-BD34-AA4A-B9DE1F7A0AED}"/>
              </a:ext>
            </a:extLst>
          </p:cNvPr>
          <p:cNvGrpSpPr/>
          <p:nvPr/>
        </p:nvGrpSpPr>
        <p:grpSpPr>
          <a:xfrm>
            <a:off x="0" y="6511806"/>
            <a:ext cx="12192000" cy="395988"/>
            <a:chOff x="0" y="6328145"/>
            <a:chExt cx="12192000" cy="526415"/>
          </a:xfrm>
        </p:grpSpPr>
        <p:pic>
          <p:nvPicPr>
            <p:cNvPr id="29" name="object 9">
              <a:extLst>
                <a:ext uri="{FF2B5EF4-FFF2-40B4-BE49-F238E27FC236}">
                  <a16:creationId xmlns:a16="http://schemas.microsoft.com/office/drawing/2014/main" id="{744224F0-E6D5-C40F-99ED-84877544E6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48983"/>
              <a:ext cx="12189714" cy="505206"/>
            </a:xfrm>
            <a:prstGeom prst="rect">
              <a:avLst/>
            </a:prstGeom>
          </p:spPr>
        </p:pic>
        <p:sp>
          <p:nvSpPr>
            <p:cNvPr id="30" name="object 10">
              <a:extLst>
                <a:ext uri="{FF2B5EF4-FFF2-40B4-BE49-F238E27FC236}">
                  <a16:creationId xmlns:a16="http://schemas.microsoft.com/office/drawing/2014/main" id="{878A60F1-674E-3FA9-98D0-9F6822A5C614}"/>
                </a:ext>
              </a:extLst>
            </p:cNvPr>
            <p:cNvSpPr/>
            <p:nvPr/>
          </p:nvSpPr>
          <p:spPr>
            <a:xfrm>
              <a:off x="0" y="6328145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31" name="object 11">
            <a:extLst>
              <a:ext uri="{FF2B5EF4-FFF2-40B4-BE49-F238E27FC236}">
                <a16:creationId xmlns:a16="http://schemas.microsoft.com/office/drawing/2014/main" id="{61473D9E-FDDC-4DC8-ED22-9F44BA54A7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81600" y="6580672"/>
            <a:ext cx="211962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CDCDE299-786A-1958-1EF7-5C1534116B9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36949" y="6580672"/>
            <a:ext cx="161290" cy="2260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E0A922-2F31-A3B3-2EB0-9F658E6EEC79}"/>
              </a:ext>
            </a:extLst>
          </p:cNvPr>
          <p:cNvSpPr txBox="1"/>
          <p:nvPr/>
        </p:nvSpPr>
        <p:spPr>
          <a:xfrm>
            <a:off x="571901" y="659425"/>
            <a:ext cx="11165048" cy="133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600" b="1" u="sng" dirty="0"/>
              <a:t>Feasibility Analysis: 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IN" sz="1400" dirty="0"/>
              <a:t>The ORCA Marine Intelligence Platform is technically feasible as it is built on </a:t>
            </a:r>
            <a:r>
              <a:rPr lang="en-IN" sz="1400" b="1" dirty="0"/>
              <a:t>proven and widely adopted technologies</a:t>
            </a:r>
            <a:r>
              <a:rPr lang="en-IN" sz="1400" dirty="0"/>
              <a:t>. It leverages </a:t>
            </a:r>
            <a:r>
              <a:rPr lang="en-IN" sz="1400" b="1" dirty="0"/>
              <a:t>satellite Earth Observation data (Sentinel-3, MODIS)</a:t>
            </a:r>
            <a:r>
              <a:rPr lang="en-IN" sz="1400" dirty="0"/>
              <a:t>, </a:t>
            </a:r>
            <a:r>
              <a:rPr lang="en-IN" sz="1400" b="1" dirty="0"/>
              <a:t>ocean forecast systems (INCOIS OSF)</a:t>
            </a:r>
            <a:r>
              <a:rPr lang="en-IN" sz="1400" dirty="0"/>
              <a:t>, and </a:t>
            </a:r>
            <a:r>
              <a:rPr lang="en-IN" sz="1400" b="1" dirty="0"/>
              <a:t>geospatial tools (</a:t>
            </a:r>
            <a:r>
              <a:rPr lang="en-IN" sz="1400" b="1" dirty="0" err="1"/>
              <a:t>PostGIS</a:t>
            </a:r>
            <a:r>
              <a:rPr lang="en-IN" sz="1400" b="1" dirty="0"/>
              <a:t>, Leaflet)</a:t>
            </a:r>
            <a:r>
              <a:rPr lang="en-IN" sz="1400" dirty="0"/>
              <a:t> to deliver accurate marine insights.</a:t>
            </a:r>
            <a:br>
              <a:rPr lang="en-IN" sz="1400" dirty="0"/>
            </a:br>
            <a:r>
              <a:rPr lang="en-IN" sz="1400" dirty="0"/>
              <a:t>The system uses </a:t>
            </a:r>
            <a:r>
              <a:rPr lang="en-IN" sz="1400" b="1" dirty="0"/>
              <a:t>data pipelines for automated ingestion</a:t>
            </a:r>
            <a:r>
              <a:rPr lang="en-IN" sz="1400" dirty="0"/>
              <a:t>, </a:t>
            </a:r>
            <a:r>
              <a:rPr lang="en-IN" sz="1400" b="1" dirty="0"/>
              <a:t>AI-based risk evaluation</a:t>
            </a:r>
            <a:r>
              <a:rPr lang="en-IN" sz="1400" dirty="0"/>
              <a:t>, and a </a:t>
            </a:r>
            <a:r>
              <a:rPr lang="en-IN" sz="1400" b="1" dirty="0"/>
              <a:t>microservices architecture</a:t>
            </a:r>
            <a:r>
              <a:rPr lang="en-IN" sz="1400" dirty="0"/>
              <a:t>, ensuring scalability, real-time processing, and seamless integration of multiple data sources. This makes the platform practical for real-world deployment in marine operations.</a:t>
            </a:r>
            <a:endParaRPr lang="en-IN" sz="10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6988CC-C97E-3C63-E853-2A347607E276}"/>
              </a:ext>
            </a:extLst>
          </p:cNvPr>
          <p:cNvCxnSpPr>
            <a:cxnSpLocks/>
          </p:cNvCxnSpPr>
          <p:nvPr/>
        </p:nvCxnSpPr>
        <p:spPr>
          <a:xfrm>
            <a:off x="5910825" y="2483664"/>
            <a:ext cx="19719" cy="3719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032339-807F-93EC-9BC3-1800CF988DBB}"/>
              </a:ext>
            </a:extLst>
          </p:cNvPr>
          <p:cNvSpPr txBox="1"/>
          <p:nvPr/>
        </p:nvSpPr>
        <p:spPr>
          <a:xfrm>
            <a:off x="229744" y="2397146"/>
            <a:ext cx="5473289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Potential Challenges / Risks</a:t>
            </a:r>
            <a:endParaRPr lang="en-IN" sz="1600" u="sng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Heterogeneous Data Integration:</a:t>
            </a:r>
            <a:r>
              <a:rPr lang="en-IN" sz="1500" dirty="0"/>
              <a:t> Different formats from satellite, ocean, and GIS sources may complicate processing Data Quality &amp; Validation.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Data Latency:</a:t>
            </a:r>
            <a:r>
              <a:rPr lang="en-IN" sz="1500" dirty="0"/>
              <a:t> Real-time updates may be delayed due to satellite pass timings and forecast refresh cycles.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AI Accuracy Limitations:</a:t>
            </a:r>
            <a:r>
              <a:rPr lang="en-IN" sz="1500" dirty="0"/>
              <a:t> Risk predictions may vary based on data quality and environmental variability.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High Computational Load:</a:t>
            </a:r>
            <a:r>
              <a:rPr lang="en-IN" sz="1500" dirty="0"/>
              <a:t> Processing raster data, geospatial queries, and analytics can be resource-intensive.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User Adoption Barriers:</a:t>
            </a:r>
            <a:r>
              <a:rPr lang="en-IN" sz="1500" dirty="0"/>
              <a:t> Fishermen and non-technical users may require training to effectively use the system.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3B106-AE5E-5FF4-FA05-26112D9E8189}"/>
              </a:ext>
            </a:extLst>
          </p:cNvPr>
          <p:cNvSpPr txBox="1"/>
          <p:nvPr/>
        </p:nvSpPr>
        <p:spPr>
          <a:xfrm>
            <a:off x="6177774" y="2275098"/>
            <a:ext cx="5865113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u="sng" dirty="0"/>
              <a:t>Overcoming the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Standardized Data Pipelines:</a:t>
            </a:r>
            <a:r>
              <a:rPr lang="en-IN" sz="1600" dirty="0"/>
              <a:t> Unified schemas and preprocessing ensure smooth integration across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Hybrid Data Handling:</a:t>
            </a:r>
            <a:r>
              <a:rPr lang="en-IN" sz="1600" dirty="0"/>
              <a:t> Combining real-time feeds with cached data ensures faster and reliable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Rule + AI-Based Models:</a:t>
            </a:r>
            <a:r>
              <a:rPr lang="en-IN" sz="1600" dirty="0"/>
              <a:t> Safety decisions combine deterministic thresholds (wind, waves) with AI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 Architecture:</a:t>
            </a:r>
            <a:r>
              <a:rPr lang="en-IN" sz="1600" dirty="0"/>
              <a:t> Microservices and cloud support handle heavy computation and future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User-Centric Design:</a:t>
            </a:r>
            <a:r>
              <a:rPr lang="en-IN" sz="1600" dirty="0"/>
              <a:t> Simple conversational interface and visual maps reduce the learning curve.</a:t>
            </a:r>
            <a:endParaRPr lang="en-IN" sz="1700" u="sng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63F4D2-D05D-F6BA-F8D5-F985A8F140E3}"/>
              </a:ext>
            </a:extLst>
          </p:cNvPr>
          <p:cNvGrpSpPr/>
          <p:nvPr/>
        </p:nvGrpSpPr>
        <p:grpSpPr>
          <a:xfrm>
            <a:off x="360207" y="144325"/>
            <a:ext cx="1087594" cy="535305"/>
            <a:chOff x="360207" y="144325"/>
            <a:chExt cx="1087594" cy="5353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F31DF5-232C-66CB-283C-19624FCA142D}"/>
                </a:ext>
              </a:extLst>
            </p:cNvPr>
            <p:cNvGrpSpPr/>
            <p:nvPr/>
          </p:nvGrpSpPr>
          <p:grpSpPr>
            <a:xfrm>
              <a:off x="360207" y="144325"/>
              <a:ext cx="1087594" cy="535305"/>
              <a:chOff x="360206" y="144325"/>
              <a:chExt cx="2017677" cy="535305"/>
            </a:xfrm>
          </p:grpSpPr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033D4257-11A1-6429-8E86-1BA2F3BEFCEC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2039035" y="0"/>
                    </a:moveTo>
                    <a:lnTo>
                      <a:pt x="89154" y="0"/>
                    </a:lnTo>
                    <a:lnTo>
                      <a:pt x="54451" y="7000"/>
                    </a:lnTo>
                    <a:lnTo>
                      <a:pt x="26112" y="26098"/>
                    </a:lnTo>
                    <a:lnTo>
                      <a:pt x="7006" y="54435"/>
                    </a:lnTo>
                    <a:lnTo>
                      <a:pt x="0" y="89153"/>
                    </a:lnTo>
                    <a:lnTo>
                      <a:pt x="0" y="445769"/>
                    </a:lnTo>
                    <a:lnTo>
                      <a:pt x="7006" y="480488"/>
                    </a:lnTo>
                    <a:lnTo>
                      <a:pt x="26112" y="508825"/>
                    </a:lnTo>
                    <a:lnTo>
                      <a:pt x="54451" y="527923"/>
                    </a:lnTo>
                    <a:lnTo>
                      <a:pt x="89154" y="534923"/>
                    </a:lnTo>
                    <a:lnTo>
                      <a:pt x="2039035" y="534923"/>
                    </a:lnTo>
                    <a:lnTo>
                      <a:pt x="2073754" y="527923"/>
                    </a:lnTo>
                    <a:lnTo>
                      <a:pt x="2102091" y="508825"/>
                    </a:lnTo>
                    <a:lnTo>
                      <a:pt x="2121188" y="480488"/>
                    </a:lnTo>
                    <a:lnTo>
                      <a:pt x="2128189" y="445769"/>
                    </a:lnTo>
                    <a:lnTo>
                      <a:pt x="2128189" y="89153"/>
                    </a:lnTo>
                    <a:lnTo>
                      <a:pt x="2121188" y="54435"/>
                    </a:lnTo>
                    <a:lnTo>
                      <a:pt x="2102091" y="26098"/>
                    </a:lnTo>
                    <a:lnTo>
                      <a:pt x="2073754" y="7000"/>
                    </a:lnTo>
                    <a:lnTo>
                      <a:pt x="2039035" y="0"/>
                    </a:lnTo>
                    <a:close/>
                  </a:path>
                </a:pathLst>
              </a:custGeom>
              <a:solidFill>
                <a:srgbClr val="D7E1F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9" name="object 11">
                <a:extLst>
                  <a:ext uri="{FF2B5EF4-FFF2-40B4-BE49-F238E27FC236}">
                    <a16:creationId xmlns:a16="http://schemas.microsoft.com/office/drawing/2014/main" id="{FAA6FD5E-0215-13E1-4198-E2DB98C345F4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0" y="89153"/>
                    </a:moveTo>
                    <a:lnTo>
                      <a:pt x="7006" y="54435"/>
                    </a:lnTo>
                    <a:lnTo>
                      <a:pt x="26112" y="26098"/>
                    </a:lnTo>
                    <a:lnTo>
                      <a:pt x="54451" y="7000"/>
                    </a:lnTo>
                    <a:lnTo>
                      <a:pt x="89154" y="0"/>
                    </a:lnTo>
                    <a:lnTo>
                      <a:pt x="2039035" y="0"/>
                    </a:lnTo>
                    <a:lnTo>
                      <a:pt x="2073754" y="7000"/>
                    </a:lnTo>
                    <a:lnTo>
                      <a:pt x="2102091" y="26098"/>
                    </a:lnTo>
                    <a:lnTo>
                      <a:pt x="2121188" y="54435"/>
                    </a:lnTo>
                    <a:lnTo>
                      <a:pt x="2128189" y="89153"/>
                    </a:lnTo>
                    <a:lnTo>
                      <a:pt x="2128189" y="445769"/>
                    </a:lnTo>
                    <a:lnTo>
                      <a:pt x="2121188" y="480488"/>
                    </a:lnTo>
                    <a:lnTo>
                      <a:pt x="2102091" y="508825"/>
                    </a:lnTo>
                    <a:lnTo>
                      <a:pt x="2073754" y="527923"/>
                    </a:lnTo>
                    <a:lnTo>
                      <a:pt x="2039035" y="534923"/>
                    </a:lnTo>
                    <a:lnTo>
                      <a:pt x="89154" y="534923"/>
                    </a:lnTo>
                    <a:lnTo>
                      <a:pt x="54451" y="527923"/>
                    </a:lnTo>
                    <a:lnTo>
                      <a:pt x="26112" y="508825"/>
                    </a:lnTo>
                    <a:lnTo>
                      <a:pt x="7006" y="480488"/>
                    </a:lnTo>
                    <a:lnTo>
                      <a:pt x="0" y="445769"/>
                    </a:lnTo>
                    <a:lnTo>
                      <a:pt x="0" y="89153"/>
                    </a:lnTo>
                    <a:close/>
                  </a:path>
                </a:pathLst>
              </a:custGeom>
              <a:ln w="12700">
                <a:solidFill>
                  <a:srgbClr val="1C2F5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42957FB-34B1-92CA-B959-A10BA79A7E65}"/>
                </a:ext>
              </a:extLst>
            </p:cNvPr>
            <p:cNvSpPr txBox="1"/>
            <p:nvPr/>
          </p:nvSpPr>
          <p:spPr>
            <a:xfrm>
              <a:off x="360207" y="227311"/>
              <a:ext cx="1087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 Rounded MT Bold" panose="020F0704030504030204" pitchFamily="34" charset="0"/>
                </a:rPr>
                <a:t>VCT 2.0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581F5-4F58-3289-0C28-CFE1F72C01EA}"/>
              </a:ext>
            </a:extLst>
          </p:cNvPr>
          <p:cNvSpPr/>
          <p:nvPr/>
        </p:nvSpPr>
        <p:spPr>
          <a:xfrm>
            <a:off x="10058400" y="144325"/>
            <a:ext cx="2057400" cy="67587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05200" y="46514"/>
            <a:ext cx="4998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dirty="0"/>
              <a:t>IMPACTS</a:t>
            </a:r>
            <a:r>
              <a:rPr u="sng" spc="-40" dirty="0"/>
              <a:t> </a:t>
            </a:r>
            <a:r>
              <a:rPr u="sng" dirty="0"/>
              <a:t>AND</a:t>
            </a:r>
            <a:r>
              <a:rPr u="sng" spc="-25" dirty="0"/>
              <a:t> </a:t>
            </a:r>
            <a:r>
              <a:rPr u="sng" dirty="0"/>
              <a:t>BENEFITS</a:t>
            </a:r>
          </a:p>
        </p:txBody>
      </p:sp>
      <p:grpSp>
        <p:nvGrpSpPr>
          <p:cNvPr id="31" name="object 8">
            <a:extLst>
              <a:ext uri="{FF2B5EF4-FFF2-40B4-BE49-F238E27FC236}">
                <a16:creationId xmlns:a16="http://schemas.microsoft.com/office/drawing/2014/main" id="{B0B5733F-C8BF-97D6-543C-A39BD37B3919}"/>
              </a:ext>
            </a:extLst>
          </p:cNvPr>
          <p:cNvGrpSpPr/>
          <p:nvPr/>
        </p:nvGrpSpPr>
        <p:grpSpPr>
          <a:xfrm>
            <a:off x="-14748" y="6497654"/>
            <a:ext cx="12192000" cy="395988"/>
            <a:chOff x="0" y="6328145"/>
            <a:chExt cx="12192000" cy="526415"/>
          </a:xfrm>
        </p:grpSpPr>
        <p:pic>
          <p:nvPicPr>
            <p:cNvPr id="32" name="object 9">
              <a:extLst>
                <a:ext uri="{FF2B5EF4-FFF2-40B4-BE49-F238E27FC236}">
                  <a16:creationId xmlns:a16="http://schemas.microsoft.com/office/drawing/2014/main" id="{0C726499-351A-04B9-4C92-116E0A8199A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48983"/>
              <a:ext cx="12189714" cy="505206"/>
            </a:xfrm>
            <a:prstGeom prst="rect">
              <a:avLst/>
            </a:prstGeom>
          </p:spPr>
        </p:pic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3C32531D-088E-A78E-80A7-D7F8D484C4AD}"/>
                </a:ext>
              </a:extLst>
            </p:cNvPr>
            <p:cNvSpPr/>
            <p:nvPr/>
          </p:nvSpPr>
          <p:spPr>
            <a:xfrm>
              <a:off x="0" y="6328145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11">
            <a:extLst>
              <a:ext uri="{FF2B5EF4-FFF2-40B4-BE49-F238E27FC236}">
                <a16:creationId xmlns:a16="http://schemas.microsoft.com/office/drawing/2014/main" id="{EA9E8F9A-F826-CFB9-13FF-D1F7841DA3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166852" y="6566520"/>
            <a:ext cx="211962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35" name="object 12">
            <a:extLst>
              <a:ext uri="{FF2B5EF4-FFF2-40B4-BE49-F238E27FC236}">
                <a16:creationId xmlns:a16="http://schemas.microsoft.com/office/drawing/2014/main" id="{7853F9AB-9B4B-9222-D793-C2E97488FAD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722201" y="6566520"/>
            <a:ext cx="161290" cy="2260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0E68D5-6FF4-9418-6A06-C74A61B0660F}"/>
              </a:ext>
            </a:extLst>
          </p:cNvPr>
          <p:cNvSpPr txBox="1"/>
          <p:nvPr/>
        </p:nvSpPr>
        <p:spPr>
          <a:xfrm>
            <a:off x="213042" y="1296156"/>
            <a:ext cx="1158240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u="sng" dirty="0"/>
              <a:t>Use Case 1: Fishermen &amp; Coastal Communities</a:t>
            </a:r>
          </a:p>
          <a:p>
            <a:pPr lvl="0"/>
            <a:r>
              <a:rPr lang="en-IN" sz="1700" b="1" dirty="0"/>
              <a:t>Impact:</a:t>
            </a:r>
            <a:r>
              <a:rPr lang="en-IN" sz="1700" dirty="0"/>
              <a:t> Real-time access to Potential Fishing Zones (PFZ), ocean conditions, and safety advisories through an intelligent conversational system. </a:t>
            </a:r>
          </a:p>
          <a:p>
            <a:pPr lvl="0"/>
            <a:r>
              <a:rPr lang="en-IN" sz="1700" b="1" dirty="0"/>
              <a:t>Benefit:</a:t>
            </a:r>
            <a:r>
              <a:rPr lang="en-IN" sz="1700" dirty="0"/>
              <a:t> Reduces search time, fuel consumption, and operational risk while increasing catch efficiency and livelihood stability.</a:t>
            </a:r>
          </a:p>
          <a:p>
            <a:pPr lvl="0"/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u="sng" dirty="0"/>
              <a:t>Use Case 2: Maritime Operators &amp; Safety Agencies</a:t>
            </a:r>
          </a:p>
          <a:p>
            <a:pPr lvl="0"/>
            <a:r>
              <a:rPr lang="en-IN" sz="1700" b="1" dirty="0"/>
              <a:t>Impact:</a:t>
            </a:r>
            <a:r>
              <a:rPr lang="en-IN" sz="1700" dirty="0"/>
              <a:t> AI-driven risk assessment using wave height, wind speed, and ocean forecasts for safe navigation and route optimization. </a:t>
            </a:r>
          </a:p>
          <a:p>
            <a:pPr lvl="0"/>
            <a:r>
              <a:rPr lang="en-IN" sz="1700" b="1" dirty="0"/>
              <a:t>Benefit:</a:t>
            </a:r>
            <a:r>
              <a:rPr lang="en-IN" sz="1700" dirty="0"/>
              <a:t> Enhances maritime safety, reduces accidents, and enables proactive disaster response (cyclones, high waves, lightning alerts). </a:t>
            </a:r>
          </a:p>
          <a:p>
            <a:pPr lvl="0"/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u="sng" dirty="0"/>
              <a:t>Use Case 3: Researchers &amp; Oceanographers</a:t>
            </a:r>
          </a:p>
          <a:p>
            <a:pPr lvl="0"/>
            <a:r>
              <a:rPr lang="en-IN" sz="1700" b="1" dirty="0"/>
              <a:t>Impact:</a:t>
            </a:r>
            <a:r>
              <a:rPr lang="en-IN" sz="1700" dirty="0"/>
              <a:t> Unified platform integrating satellite data (SST, chlorophyll), ocean forecasts, and geospatial analytics. </a:t>
            </a:r>
          </a:p>
          <a:p>
            <a:pPr lvl="0"/>
            <a:r>
              <a:rPr lang="en-IN" sz="1700" b="1" dirty="0"/>
              <a:t>Benefit:</a:t>
            </a:r>
            <a:r>
              <a:rPr lang="en-IN" sz="1700" dirty="0"/>
              <a:t> Enables faster marine ecosystem analysis, fisheries forecasting, and data-driven scientific research.</a:t>
            </a:r>
          </a:p>
          <a:p>
            <a:pPr lvl="0"/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00" b="1" u="sng" dirty="0"/>
              <a:t> Use Case 4: Government &amp; Policy Makers</a:t>
            </a:r>
          </a:p>
          <a:p>
            <a:pPr lvl="0"/>
            <a:r>
              <a:rPr lang="en-IN" sz="1700" b="1" dirty="0"/>
              <a:t>Impact:</a:t>
            </a:r>
            <a:r>
              <a:rPr lang="en-IN" sz="1700" dirty="0"/>
              <a:t> Evidence-based decision support for fisheries management, marine conservation, and coastal planning. </a:t>
            </a:r>
          </a:p>
          <a:p>
            <a:pPr lvl="0"/>
            <a:r>
              <a:rPr lang="en-IN" sz="1700" b="1" dirty="0"/>
              <a:t>Benefit:</a:t>
            </a:r>
            <a:r>
              <a:rPr lang="en-IN" sz="1700" dirty="0"/>
              <a:t> Supports sustainable fishing policies, Blue Economy initiatives, and national programs like </a:t>
            </a:r>
            <a:r>
              <a:rPr lang="en-IN" sz="1700" b="1" dirty="0"/>
              <a:t>PMMSY &amp; Blue Vision 2030</a:t>
            </a:r>
            <a:r>
              <a:rPr lang="en-IN" sz="1700" dirty="0"/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396F63E-3198-1DFD-65BF-0C33CC0C6701}"/>
              </a:ext>
            </a:extLst>
          </p:cNvPr>
          <p:cNvGrpSpPr/>
          <p:nvPr/>
        </p:nvGrpSpPr>
        <p:grpSpPr>
          <a:xfrm>
            <a:off x="360207" y="144325"/>
            <a:ext cx="1087594" cy="535305"/>
            <a:chOff x="360207" y="144325"/>
            <a:chExt cx="1087594" cy="53530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FFE1CDA-141F-1494-5A4B-EF9295A919F9}"/>
                </a:ext>
              </a:extLst>
            </p:cNvPr>
            <p:cNvGrpSpPr/>
            <p:nvPr/>
          </p:nvGrpSpPr>
          <p:grpSpPr>
            <a:xfrm>
              <a:off x="360207" y="144325"/>
              <a:ext cx="1087594" cy="535305"/>
              <a:chOff x="360206" y="144325"/>
              <a:chExt cx="2017677" cy="535305"/>
            </a:xfrm>
          </p:grpSpPr>
          <p:sp>
            <p:nvSpPr>
              <p:cNvPr id="5" name="object 10">
                <a:extLst>
                  <a:ext uri="{FF2B5EF4-FFF2-40B4-BE49-F238E27FC236}">
                    <a16:creationId xmlns:a16="http://schemas.microsoft.com/office/drawing/2014/main" id="{195487CB-D9C6-989D-1720-B155E8B2A1D3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2039035" y="0"/>
                    </a:moveTo>
                    <a:lnTo>
                      <a:pt x="89154" y="0"/>
                    </a:lnTo>
                    <a:lnTo>
                      <a:pt x="54451" y="7000"/>
                    </a:lnTo>
                    <a:lnTo>
                      <a:pt x="26112" y="26098"/>
                    </a:lnTo>
                    <a:lnTo>
                      <a:pt x="7006" y="54435"/>
                    </a:lnTo>
                    <a:lnTo>
                      <a:pt x="0" y="89153"/>
                    </a:lnTo>
                    <a:lnTo>
                      <a:pt x="0" y="445769"/>
                    </a:lnTo>
                    <a:lnTo>
                      <a:pt x="7006" y="480488"/>
                    </a:lnTo>
                    <a:lnTo>
                      <a:pt x="26112" y="508825"/>
                    </a:lnTo>
                    <a:lnTo>
                      <a:pt x="54451" y="527923"/>
                    </a:lnTo>
                    <a:lnTo>
                      <a:pt x="89154" y="534923"/>
                    </a:lnTo>
                    <a:lnTo>
                      <a:pt x="2039035" y="534923"/>
                    </a:lnTo>
                    <a:lnTo>
                      <a:pt x="2073754" y="527923"/>
                    </a:lnTo>
                    <a:lnTo>
                      <a:pt x="2102091" y="508825"/>
                    </a:lnTo>
                    <a:lnTo>
                      <a:pt x="2121188" y="480488"/>
                    </a:lnTo>
                    <a:lnTo>
                      <a:pt x="2128189" y="445769"/>
                    </a:lnTo>
                    <a:lnTo>
                      <a:pt x="2128189" y="89153"/>
                    </a:lnTo>
                    <a:lnTo>
                      <a:pt x="2121188" y="54435"/>
                    </a:lnTo>
                    <a:lnTo>
                      <a:pt x="2102091" y="26098"/>
                    </a:lnTo>
                    <a:lnTo>
                      <a:pt x="2073754" y="7000"/>
                    </a:lnTo>
                    <a:lnTo>
                      <a:pt x="2039035" y="0"/>
                    </a:lnTo>
                    <a:close/>
                  </a:path>
                </a:pathLst>
              </a:custGeom>
              <a:solidFill>
                <a:srgbClr val="D7E1F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" name="object 11">
                <a:extLst>
                  <a:ext uri="{FF2B5EF4-FFF2-40B4-BE49-F238E27FC236}">
                    <a16:creationId xmlns:a16="http://schemas.microsoft.com/office/drawing/2014/main" id="{494A0CE4-4564-5B44-2499-2F0803638951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0" y="89153"/>
                    </a:moveTo>
                    <a:lnTo>
                      <a:pt x="7006" y="54435"/>
                    </a:lnTo>
                    <a:lnTo>
                      <a:pt x="26112" y="26098"/>
                    </a:lnTo>
                    <a:lnTo>
                      <a:pt x="54451" y="7000"/>
                    </a:lnTo>
                    <a:lnTo>
                      <a:pt x="89154" y="0"/>
                    </a:lnTo>
                    <a:lnTo>
                      <a:pt x="2039035" y="0"/>
                    </a:lnTo>
                    <a:lnTo>
                      <a:pt x="2073754" y="7000"/>
                    </a:lnTo>
                    <a:lnTo>
                      <a:pt x="2102091" y="26098"/>
                    </a:lnTo>
                    <a:lnTo>
                      <a:pt x="2121188" y="54435"/>
                    </a:lnTo>
                    <a:lnTo>
                      <a:pt x="2128189" y="89153"/>
                    </a:lnTo>
                    <a:lnTo>
                      <a:pt x="2128189" y="445769"/>
                    </a:lnTo>
                    <a:lnTo>
                      <a:pt x="2121188" y="480488"/>
                    </a:lnTo>
                    <a:lnTo>
                      <a:pt x="2102091" y="508825"/>
                    </a:lnTo>
                    <a:lnTo>
                      <a:pt x="2073754" y="527923"/>
                    </a:lnTo>
                    <a:lnTo>
                      <a:pt x="2039035" y="534923"/>
                    </a:lnTo>
                    <a:lnTo>
                      <a:pt x="89154" y="534923"/>
                    </a:lnTo>
                    <a:lnTo>
                      <a:pt x="54451" y="527923"/>
                    </a:lnTo>
                    <a:lnTo>
                      <a:pt x="26112" y="508825"/>
                    </a:lnTo>
                    <a:lnTo>
                      <a:pt x="7006" y="480488"/>
                    </a:lnTo>
                    <a:lnTo>
                      <a:pt x="0" y="445769"/>
                    </a:lnTo>
                    <a:lnTo>
                      <a:pt x="0" y="89153"/>
                    </a:lnTo>
                    <a:close/>
                  </a:path>
                </a:pathLst>
              </a:custGeom>
              <a:ln w="12700">
                <a:solidFill>
                  <a:srgbClr val="1C2F5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6202F00-63B3-A0DC-4D21-AC0657C82816}"/>
                </a:ext>
              </a:extLst>
            </p:cNvPr>
            <p:cNvSpPr txBox="1"/>
            <p:nvPr/>
          </p:nvSpPr>
          <p:spPr>
            <a:xfrm>
              <a:off x="360207" y="227311"/>
              <a:ext cx="1087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 Rounded MT Bold" panose="020F0704030504030204" pitchFamily="34" charset="0"/>
                </a:rPr>
                <a:t>VCT 2.0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901280D-43CC-6FE0-B72B-1247ACE65640}"/>
              </a:ext>
            </a:extLst>
          </p:cNvPr>
          <p:cNvSpPr/>
          <p:nvPr/>
        </p:nvSpPr>
        <p:spPr>
          <a:xfrm>
            <a:off x="10058400" y="144325"/>
            <a:ext cx="2057400" cy="67587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0"/>
              </a:spcBef>
              <a:tabLst>
                <a:tab pos="2896870" algn="l"/>
              </a:tabLst>
            </a:pPr>
            <a:r>
              <a:rPr u="sng" dirty="0"/>
              <a:t>RESEARCH	AND</a:t>
            </a:r>
            <a:r>
              <a:rPr u="sng" spc="-85" dirty="0"/>
              <a:t> </a:t>
            </a:r>
            <a:r>
              <a:rPr u="sng" dirty="0"/>
              <a:t>REFERENCES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6511806"/>
            <a:ext cx="12192000" cy="395988"/>
            <a:chOff x="0" y="6328145"/>
            <a:chExt cx="12192000" cy="5264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48983"/>
              <a:ext cx="12189714" cy="50520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0" y="6328145"/>
              <a:ext cx="12192000" cy="503555"/>
            </a:xfrm>
            <a:custGeom>
              <a:avLst/>
              <a:gdLst/>
              <a:ahLst/>
              <a:cxnLst/>
              <a:rect l="l" t="t" r="r" b="b"/>
              <a:pathLst>
                <a:path w="12192000" h="503554">
                  <a:moveTo>
                    <a:pt x="12192000" y="0"/>
                  </a:moveTo>
                  <a:lnTo>
                    <a:pt x="0" y="0"/>
                  </a:lnTo>
                  <a:lnTo>
                    <a:pt x="0" y="503237"/>
                  </a:lnTo>
                  <a:lnTo>
                    <a:pt x="12192000" y="5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181600" y="6580672"/>
            <a:ext cx="2119629" cy="18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@SIH</a:t>
            </a:r>
            <a:r>
              <a:rPr spc="-25" dirty="0"/>
              <a:t> </a:t>
            </a:r>
            <a:r>
              <a:rPr dirty="0"/>
              <a:t>Idea</a:t>
            </a:r>
            <a:r>
              <a:rPr spc="-25" dirty="0"/>
              <a:t> </a:t>
            </a:r>
            <a:r>
              <a:rPr spc="-5" dirty="0"/>
              <a:t>submission-</a:t>
            </a:r>
            <a:r>
              <a:rPr spc="-15" dirty="0"/>
              <a:t> </a:t>
            </a:r>
            <a:r>
              <a:rPr dirty="0"/>
              <a:t>Template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11736949" y="6580672"/>
            <a:ext cx="161290" cy="22605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805690-0F26-74EA-18D7-0E833E880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78832"/>
              </p:ext>
            </p:extLst>
          </p:nvPr>
        </p:nvGraphicFramePr>
        <p:xfrm>
          <a:off x="457198" y="955034"/>
          <a:ext cx="11125200" cy="491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954">
                  <a:extLst>
                    <a:ext uri="{9D8B030D-6E8A-4147-A177-3AD203B41FA5}">
                      <a16:colId xmlns:a16="http://schemas.microsoft.com/office/drawing/2014/main" val="1416471818"/>
                    </a:ext>
                  </a:extLst>
                </a:gridCol>
                <a:gridCol w="3114954">
                  <a:extLst>
                    <a:ext uri="{9D8B030D-6E8A-4147-A177-3AD203B41FA5}">
                      <a16:colId xmlns:a16="http://schemas.microsoft.com/office/drawing/2014/main" val="4134039562"/>
                    </a:ext>
                  </a:extLst>
                </a:gridCol>
                <a:gridCol w="2445707">
                  <a:extLst>
                    <a:ext uri="{9D8B030D-6E8A-4147-A177-3AD203B41FA5}">
                      <a16:colId xmlns:a16="http://schemas.microsoft.com/office/drawing/2014/main" val="455844388"/>
                    </a:ext>
                  </a:extLst>
                </a:gridCol>
                <a:gridCol w="2449585">
                  <a:extLst>
                    <a:ext uri="{9D8B030D-6E8A-4147-A177-3AD203B41FA5}">
                      <a16:colId xmlns:a16="http://schemas.microsoft.com/office/drawing/2014/main" val="2738489534"/>
                    </a:ext>
                  </a:extLst>
                </a:gridCol>
              </a:tblGrid>
              <a:tr h="608300">
                <a:tc>
                  <a:txBody>
                    <a:bodyPr/>
                    <a:lstStyle/>
                    <a:p>
                      <a:r>
                        <a:rPr lang="en-IN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Publication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Paper Link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9316332"/>
                  </a:ext>
                </a:extLst>
              </a:tr>
              <a:tr h="980039">
                <a:tc>
                  <a:txBody>
                    <a:bodyPr/>
                    <a:lstStyle/>
                    <a:p>
                      <a:r>
                        <a:rPr lang="en-IN" sz="1400" dirty="0"/>
                        <a:t>Satellite-based Potential Fishing Zone (PFZ) Forecasting using SST and Chlorophyll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V. S. </a:t>
                      </a:r>
                      <a:r>
                        <a:rPr lang="en-IN" dirty="0" err="1"/>
                        <a:t>Somvanshi</a:t>
                      </a:r>
                      <a:r>
                        <a:rPr lang="en-IN" dirty="0"/>
                        <a:t>, INCOIS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https://incois.gov.in/documents/PFZ_forecasting.pdf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852"/>
                  </a:ext>
                </a:extLst>
              </a:tr>
              <a:tr h="831007">
                <a:tc>
                  <a:txBody>
                    <a:bodyPr/>
                    <a:lstStyle/>
                    <a:p>
                      <a:r>
                        <a:rPr lang="en-IN" sz="1400" dirty="0"/>
                        <a:t>Ocean </a:t>
                      </a:r>
                      <a:r>
                        <a:rPr lang="en-IN" sz="1400" dirty="0" err="1"/>
                        <a:t>Color</a:t>
                      </a:r>
                      <a:r>
                        <a:rPr lang="en-IN" sz="1400" dirty="0"/>
                        <a:t> Remote Sensing for Fisheries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IOCCG (International Ocean Colour Coordinating Group)</a:t>
                      </a:r>
                      <a:endParaRPr lang="en-IN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https://ioccg.org/wp-content/uploads/2019/10/report19.pdf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538712"/>
                  </a:ext>
                </a:extLst>
              </a:tr>
              <a:tr h="831007">
                <a:tc>
                  <a:txBody>
                    <a:bodyPr/>
                    <a:lstStyle/>
                    <a:p>
                      <a:r>
                        <a:rPr lang="en-IN" sz="1400" dirty="0"/>
                        <a:t>Sea Surface Temperature and Chlorophyll Fronts in Marine Ecosystems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Peter </a:t>
                      </a:r>
                      <a:r>
                        <a:rPr lang="en-IN" dirty="0" err="1"/>
                        <a:t>Lehodey</a:t>
                      </a:r>
                      <a:r>
                        <a:rPr lang="en-IN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https://www.sciencedirect.com/science/article/pii/S0079661106000044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715303"/>
                  </a:ext>
                </a:extLst>
              </a:tr>
              <a:tr h="831007">
                <a:tc>
                  <a:txBody>
                    <a:bodyPr/>
                    <a:lstStyle/>
                    <a:p>
                      <a:r>
                        <a:rPr lang="en-IN" sz="1400" dirty="0"/>
                        <a:t>GEBCO Bathymetric Grid: A Global Terrain Model of the Ocean Floor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GEBCO Compilation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https://www.gebco.net/data_and_products/gridded_bathymetry_data/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313249"/>
                  </a:ext>
                </a:extLst>
              </a:tr>
              <a:tr h="831007">
                <a:tc>
                  <a:txBody>
                    <a:bodyPr/>
                    <a:lstStyle/>
                    <a:p>
                      <a:r>
                        <a:rPr lang="en-IN" sz="1400" dirty="0"/>
                        <a:t>INCOIS Ocean State Forecast (OSF) System for Marine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INCOIS (</a:t>
                      </a:r>
                      <a:r>
                        <a:rPr lang="en-IN" dirty="0" err="1"/>
                        <a:t>MoES</a:t>
                      </a:r>
                      <a:r>
                        <a:rPr lang="en-IN" dirty="0"/>
                        <a:t>, India)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https://incois.gov.in/portal/osf/osf.jsp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457750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C367C0D-BB98-20AE-1FC5-7C23764A39A2}"/>
              </a:ext>
            </a:extLst>
          </p:cNvPr>
          <p:cNvGrpSpPr/>
          <p:nvPr/>
        </p:nvGrpSpPr>
        <p:grpSpPr>
          <a:xfrm>
            <a:off x="360207" y="144325"/>
            <a:ext cx="1087594" cy="535305"/>
            <a:chOff x="360207" y="144325"/>
            <a:chExt cx="1087594" cy="53530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04D7EEA-25BD-CCDD-5BF1-B08481DE1958}"/>
                </a:ext>
              </a:extLst>
            </p:cNvPr>
            <p:cNvGrpSpPr/>
            <p:nvPr/>
          </p:nvGrpSpPr>
          <p:grpSpPr>
            <a:xfrm>
              <a:off x="360207" y="144325"/>
              <a:ext cx="1087594" cy="535305"/>
              <a:chOff x="360206" y="144325"/>
              <a:chExt cx="2017677" cy="535305"/>
            </a:xfrm>
          </p:grpSpPr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515C01EE-D06E-75E2-069D-FA1FE730EA36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2039035" y="0"/>
                    </a:moveTo>
                    <a:lnTo>
                      <a:pt x="89154" y="0"/>
                    </a:lnTo>
                    <a:lnTo>
                      <a:pt x="54451" y="7000"/>
                    </a:lnTo>
                    <a:lnTo>
                      <a:pt x="26112" y="26098"/>
                    </a:lnTo>
                    <a:lnTo>
                      <a:pt x="7006" y="54435"/>
                    </a:lnTo>
                    <a:lnTo>
                      <a:pt x="0" y="89153"/>
                    </a:lnTo>
                    <a:lnTo>
                      <a:pt x="0" y="445769"/>
                    </a:lnTo>
                    <a:lnTo>
                      <a:pt x="7006" y="480488"/>
                    </a:lnTo>
                    <a:lnTo>
                      <a:pt x="26112" y="508825"/>
                    </a:lnTo>
                    <a:lnTo>
                      <a:pt x="54451" y="527923"/>
                    </a:lnTo>
                    <a:lnTo>
                      <a:pt x="89154" y="534923"/>
                    </a:lnTo>
                    <a:lnTo>
                      <a:pt x="2039035" y="534923"/>
                    </a:lnTo>
                    <a:lnTo>
                      <a:pt x="2073754" y="527923"/>
                    </a:lnTo>
                    <a:lnTo>
                      <a:pt x="2102091" y="508825"/>
                    </a:lnTo>
                    <a:lnTo>
                      <a:pt x="2121188" y="480488"/>
                    </a:lnTo>
                    <a:lnTo>
                      <a:pt x="2128189" y="445769"/>
                    </a:lnTo>
                    <a:lnTo>
                      <a:pt x="2128189" y="89153"/>
                    </a:lnTo>
                    <a:lnTo>
                      <a:pt x="2121188" y="54435"/>
                    </a:lnTo>
                    <a:lnTo>
                      <a:pt x="2102091" y="26098"/>
                    </a:lnTo>
                    <a:lnTo>
                      <a:pt x="2073754" y="7000"/>
                    </a:lnTo>
                    <a:lnTo>
                      <a:pt x="2039035" y="0"/>
                    </a:lnTo>
                    <a:close/>
                  </a:path>
                </a:pathLst>
              </a:custGeom>
              <a:solidFill>
                <a:srgbClr val="D7E1F3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1" name="object 11">
                <a:extLst>
                  <a:ext uri="{FF2B5EF4-FFF2-40B4-BE49-F238E27FC236}">
                    <a16:creationId xmlns:a16="http://schemas.microsoft.com/office/drawing/2014/main" id="{5FEB3566-B0D4-0011-6802-38FB36AFB2AA}"/>
                  </a:ext>
                </a:extLst>
              </p:cNvPr>
              <p:cNvSpPr/>
              <p:nvPr/>
            </p:nvSpPr>
            <p:spPr>
              <a:xfrm>
                <a:off x="360206" y="144325"/>
                <a:ext cx="2017677" cy="535305"/>
              </a:xfrm>
              <a:custGeom>
                <a:avLst/>
                <a:gdLst/>
                <a:ahLst/>
                <a:cxnLst/>
                <a:rect l="l" t="t" r="r" b="b"/>
                <a:pathLst>
                  <a:path w="2128520" h="535305">
                    <a:moveTo>
                      <a:pt x="0" y="89153"/>
                    </a:moveTo>
                    <a:lnTo>
                      <a:pt x="7006" y="54435"/>
                    </a:lnTo>
                    <a:lnTo>
                      <a:pt x="26112" y="26098"/>
                    </a:lnTo>
                    <a:lnTo>
                      <a:pt x="54451" y="7000"/>
                    </a:lnTo>
                    <a:lnTo>
                      <a:pt x="89154" y="0"/>
                    </a:lnTo>
                    <a:lnTo>
                      <a:pt x="2039035" y="0"/>
                    </a:lnTo>
                    <a:lnTo>
                      <a:pt x="2073754" y="7000"/>
                    </a:lnTo>
                    <a:lnTo>
                      <a:pt x="2102091" y="26098"/>
                    </a:lnTo>
                    <a:lnTo>
                      <a:pt x="2121188" y="54435"/>
                    </a:lnTo>
                    <a:lnTo>
                      <a:pt x="2128189" y="89153"/>
                    </a:lnTo>
                    <a:lnTo>
                      <a:pt x="2128189" y="445769"/>
                    </a:lnTo>
                    <a:lnTo>
                      <a:pt x="2121188" y="480488"/>
                    </a:lnTo>
                    <a:lnTo>
                      <a:pt x="2102091" y="508825"/>
                    </a:lnTo>
                    <a:lnTo>
                      <a:pt x="2073754" y="527923"/>
                    </a:lnTo>
                    <a:lnTo>
                      <a:pt x="2039035" y="534923"/>
                    </a:lnTo>
                    <a:lnTo>
                      <a:pt x="89154" y="534923"/>
                    </a:lnTo>
                    <a:lnTo>
                      <a:pt x="54451" y="527923"/>
                    </a:lnTo>
                    <a:lnTo>
                      <a:pt x="26112" y="508825"/>
                    </a:lnTo>
                    <a:lnTo>
                      <a:pt x="7006" y="480488"/>
                    </a:lnTo>
                    <a:lnTo>
                      <a:pt x="0" y="445769"/>
                    </a:lnTo>
                    <a:lnTo>
                      <a:pt x="0" y="89153"/>
                    </a:lnTo>
                    <a:close/>
                  </a:path>
                </a:pathLst>
              </a:custGeom>
              <a:ln w="12700">
                <a:solidFill>
                  <a:srgbClr val="1C2F52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DA5D3C-32EB-A74F-0EDF-E97AFE9A8C9D}"/>
                </a:ext>
              </a:extLst>
            </p:cNvPr>
            <p:cNvSpPr txBox="1"/>
            <p:nvPr/>
          </p:nvSpPr>
          <p:spPr>
            <a:xfrm>
              <a:off x="360207" y="227311"/>
              <a:ext cx="10875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Arial Rounded MT Bold" panose="020F0704030504030204" pitchFamily="34" charset="0"/>
                </a:rPr>
                <a:t>VCT 2.0</a:t>
              </a:r>
              <a:endParaRPr lang="en-IN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E0742B1-A233-B0D0-7C94-0877739ED280}"/>
              </a:ext>
            </a:extLst>
          </p:cNvPr>
          <p:cNvSpPr/>
          <p:nvPr/>
        </p:nvSpPr>
        <p:spPr>
          <a:xfrm>
            <a:off x="10058400" y="144325"/>
            <a:ext cx="2057400" cy="67587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</TotalTime>
  <Words>1128</Words>
  <Application>Microsoft Office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MT</vt:lpstr>
      <vt:lpstr>Arial Rounded MT Bold</vt:lpstr>
      <vt:lpstr>Calibri</vt:lpstr>
      <vt:lpstr>Garamond</vt:lpstr>
      <vt:lpstr>Times New Roman</vt:lpstr>
      <vt:lpstr>Office Theme</vt:lpstr>
      <vt:lpstr>SMART INDIA HACKATHON 2026</vt:lpstr>
      <vt:lpstr>IDEA TITLE</vt:lpstr>
      <vt:lpstr>TECHNICAL APPROACH</vt:lpstr>
      <vt:lpstr>FEASIBILITY &amp; VIABILITY</vt:lpstr>
      <vt:lpstr>IMPACTS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VIVEK CHANGELA</dc:creator>
  <cp:lastModifiedBy>Jade Uzumaki</cp:lastModifiedBy>
  <cp:revision>11</cp:revision>
  <dcterms:created xsi:type="dcterms:W3CDTF">2024-09-27T19:04:47Z</dcterms:created>
  <dcterms:modified xsi:type="dcterms:W3CDTF">2026-08-31T12:23:43Z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2024-09-27T00:00:00Z</vt:filetime>
  </property>
</Properties>
</file>